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0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2" r:id="rId12"/>
    <p:sldId id="273" r:id="rId13"/>
    <p:sldId id="265" r:id="rId14"/>
    <p:sldId id="266" r:id="rId15"/>
    <p:sldId id="270" r:id="rId16"/>
    <p:sldId id="267" r:id="rId17"/>
    <p:sldId id="268" r:id="rId18"/>
    <p:sldId id="271" r:id="rId19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65B350-B51D-44E3-B15E-44A5FDCE912E}">
  <a:tblStyle styleId="{3A65B350-B51D-44E3-B15E-44A5FDCE91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372"/>
  </p:normalViewPr>
  <p:slideViewPr>
    <p:cSldViewPr snapToGrid="0">
      <p:cViewPr varScale="1">
        <p:scale>
          <a:sx n="98" d="100"/>
          <a:sy n="98" d="100"/>
        </p:scale>
        <p:origin x="10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45" name="Google Shape;245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AES-256 stands for Advanced Encryption Standard with a 256-bit key length</a:t>
            </a:r>
            <a:br>
              <a:rPr lang="en-US" dirty="0">
                <a:latin typeface="Arial"/>
                <a:ea typeface="Arial"/>
                <a:cs typeface="Arial"/>
                <a:sym typeface="Arial"/>
              </a:rPr>
            </a:br>
            <a:br>
              <a:rPr lang="en-US" dirty="0"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latin typeface="Arial"/>
                <a:ea typeface="Arial"/>
                <a:cs typeface="Arial"/>
                <a:sym typeface="Arial"/>
              </a:rPr>
              <a:t>AES-256 secures the data content itself like a locked vault, whereas TLS secures the entire communication channel to protect the journey, hide metadata, and verify that you are connecting to the legitimate Microsoft server.</a:t>
            </a:r>
            <a:endParaRPr dirty="0"/>
          </a:p>
        </p:txBody>
      </p:sp>
      <p:sp>
        <p:nvSpPr>
          <p:cNvPr id="74" name="Google Shape;7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2" name="Google Shape;2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61" name="Google Shape;26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4298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61" name="Google Shape;26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11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1" name="Google Shape;261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3" name="Google Shape;43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7" name="Google Shape;31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8" name="Google Shape;34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7" name="Google Shape;31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3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3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69680" y="0"/>
            <a:ext cx="3291840" cy="6858000"/>
          </a:xfrm>
          <a:prstGeom prst="rect">
            <a:avLst/>
          </a:prstGeom>
          <a:solidFill>
            <a:srgbClr val="163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829800" y="2606040"/>
            <a:ext cx="1645920" cy="164592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4198" y="305043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9464040" y="2240280"/>
            <a:ext cx="2377440" cy="237744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22960" y="1371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MICROSOFT FABRIC · DATA SECURITY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182880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Customer-Managed Keys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 Microsoft Fabric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36118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2400"/>
              <a:buFont typeface="Cambria"/>
              <a:buNone/>
            </a:pPr>
            <a:r>
              <a:rPr lang="en-US" sz="2400" b="0" i="1" u="none" strike="noStrike" cap="none">
                <a:solidFill>
                  <a:srgbClr val="7FE3D3"/>
                </a:solidFill>
                <a:latin typeface="Cambria"/>
                <a:ea typeface="Cambria"/>
                <a:cs typeface="Cambria"/>
                <a:sym typeface="Cambria"/>
              </a:rPr>
              <a:t>What It </a:t>
            </a:r>
            <a:r>
              <a:rPr lang="en-US" sz="2400" b="1" i="1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Actually</a:t>
            </a:r>
            <a:r>
              <a:rPr lang="en-US" sz="2400" b="0" i="1" u="none" strike="noStrike" cap="none">
                <a:solidFill>
                  <a:srgbClr val="7FE3D3"/>
                </a:solidFill>
                <a:latin typeface="Cambria"/>
                <a:ea typeface="Cambria"/>
                <a:cs typeface="Cambria"/>
                <a:sym typeface="Cambria"/>
              </a:rPr>
              <a:t> Does (and Doesn't)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841248" y="4526280"/>
            <a:ext cx="2011680" cy="0"/>
          </a:xfrm>
          <a:prstGeom prst="straightConnector1">
            <a:avLst/>
          </a:prstGeom>
          <a:noFill/>
          <a:ln w="254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822950" y="4709141"/>
            <a:ext cx="74982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6DB"/>
              </a:buClr>
              <a:buSzPts val="1500"/>
              <a:buFont typeface="Calibri"/>
              <a:buNone/>
            </a:pPr>
            <a:r>
              <a:rPr lang="en-US" sz="1800" b="0" i="0" u="none" strike="noStrike" cap="none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A 60-minute session for data engineers — with a live demo</a:t>
            </a:r>
            <a:endParaRPr sz="1800" b="0" i="0" u="none" strike="noStrike" cap="none">
              <a:solidFill>
                <a:srgbClr val="C9D6D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D6DB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Karianne Kies</a:t>
            </a:r>
            <a:endParaRPr sz="1800">
              <a:solidFill>
                <a:srgbClr val="C9D6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NEWS HOOK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Everyone's nervous about who can reach your data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40080" y="3529584"/>
            <a:ext cx="3429000" cy="220501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926592" y="3861054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165" y="4053627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1813560" y="392506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New datacenters in Europe 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960120" y="4785795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The act aims to triple the number of data centers inside Europe over the next 5 to 7 years.</a:t>
            </a:r>
            <a:endParaRPr sz="13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297680" y="3529583"/>
            <a:ext cx="3429000" cy="2205009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617720" y="3803904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0293" y="3996477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5504688" y="386791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Four Sovereignty Levels</a:t>
            </a:r>
            <a:endParaRPr sz="14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617720" y="4656365"/>
            <a:ext cx="2880360" cy="944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Level 1 is a self-assessed cybersecurity baseline. Level 4 demands full EU ownership, EU-cleared staff, and third-party audits.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955280" y="3529584"/>
            <a:ext cx="3429000" cy="220500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275320" y="3803904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7893" y="3996477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9162288" y="3867912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Will CMK in Fabric help us obey the rules?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275320" y="4709709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And in which cases?</a:t>
            </a:r>
            <a:endParaRPr lang="en-US"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0080" y="1408176"/>
            <a:ext cx="10744200" cy="1866900"/>
          </a:xfrm>
          <a:prstGeom prst="roundRect">
            <a:avLst>
              <a:gd name="adj" fmla="val 6400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60120" y="2058162"/>
            <a:ext cx="566928" cy="566928"/>
          </a:xfrm>
          <a:prstGeom prst="ellipse">
            <a:avLst/>
          </a:prstGeom>
          <a:solidFill>
            <a:srgbClr val="E0A33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3191" y="2211233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783080" y="1884426"/>
            <a:ext cx="9418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0A33E"/>
              </a:buClr>
              <a:buSzPts val="135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E0A33E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One month ago, </a:t>
            </a:r>
            <a:r>
              <a:rPr lang="en-GB" sz="20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EU proposed the Cloud and AI Development Act, or CADA, to reduce reliance on foreign tech giants.</a:t>
            </a:r>
            <a:endParaRPr sz="2000" b="0" i="0" u="none" strike="noStrike" cap="none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640080" y="5844540"/>
            <a:ext cx="10744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1" u="none" strike="noStrike" cap="none" dirty="0">
                <a:solidFill>
                  <a:srgbClr val="8C9BA1"/>
                </a:solidFill>
                <a:latin typeface="Calibri"/>
                <a:ea typeface="Calibri"/>
                <a:cs typeface="Calibri"/>
                <a:sym typeface="Calibri"/>
              </a:rPr>
              <a:t>Sources: European Commission, Cloud and AI Development Act proposal (3 Jun 2026) · EU Cloud Sovereignty Framework / SEAL · ENISA, EUCS cloud services scheme.</a:t>
            </a:r>
            <a:endParaRPr sz="9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1904319" y="311810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Where we're headed in 60 minutes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40080" y="16916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896112" y="1984248"/>
            <a:ext cx="731520" cy="731520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" name="Google Shape;34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622" y="2181758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5166360" y="185623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E5E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DCE5E4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783080" y="19659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Encryption in Fabric by default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783080" y="235000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6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Why your data is already protected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263640" y="169164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6519672" y="1984248"/>
            <a:ext cx="731520" cy="731520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7182" y="2181758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10789920" y="185623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E5E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DCE5E4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406640" y="19659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50"/>
              <a:buFont typeface="Calibri"/>
              <a:buNone/>
            </a:pPr>
            <a:r>
              <a:rPr lang="en-US" sz="18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BYOK vs CMK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406640" y="235000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6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Two mechanisms, one strategy — the core confusion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40080" y="32461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96112" y="3538728"/>
            <a:ext cx="731520" cy="73152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" name="Google Shape;4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3622" y="3736238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5166360" y="341071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E5E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DCE5E4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783080" y="3520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50"/>
              <a:buFont typeface="Calibri"/>
              <a:buNone/>
            </a:pPr>
            <a:r>
              <a:rPr lang="en-US" sz="18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What CMK actually does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783080" y="390448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6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Ownership, control, the kill switch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263640" y="32461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6519672" y="3538728"/>
            <a:ext cx="731520" cy="731520"/>
          </a:xfrm>
          <a:prstGeom prst="ellipse">
            <a:avLst/>
          </a:prstGeom>
          <a:solidFill>
            <a:srgbClr val="E0A33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7182" y="3736238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10789920" y="341071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E5E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DCE5E4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7406640" y="3520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50"/>
              <a:buFont typeface="Calibri"/>
              <a:buNone/>
            </a:pPr>
            <a:r>
              <a:rPr lang="en-US" sz="18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406640" y="390448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6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Enable CMK on a workspace + revoke a key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40080" y="48006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896112" y="5093208"/>
            <a:ext cx="731520" cy="731520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3622" y="5290718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"/>
          <p:cNvSpPr/>
          <p:nvPr/>
        </p:nvSpPr>
        <p:spPr>
          <a:xfrm>
            <a:off x="5166360" y="496519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E5E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DCE5E4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1783080" y="50749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50"/>
              <a:buFont typeface="Calibri"/>
              <a:buNone/>
            </a:pPr>
            <a:r>
              <a:rPr lang="en-US" sz="18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What CMK does NOT do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783080" y="545896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6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The honest payoff of the title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263640" y="480060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519672" y="5093208"/>
            <a:ext cx="731520" cy="73152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17182" y="5290718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10789920" y="496519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DCE5E4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DCE5E4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406640" y="50749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50"/>
              <a:buFont typeface="Calibri"/>
              <a:buNone/>
            </a:pPr>
            <a:r>
              <a:rPr lang="en-US" sz="18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Do you actually need it?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406640" y="5458968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6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A practical decision frame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4355825" y="6497200"/>
            <a:ext cx="741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BASELINE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Fabric already encrypts everything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172200" y="2895162"/>
            <a:ext cx="5486400" cy="1460400"/>
          </a:xfrm>
          <a:prstGeom prst="roundRect">
            <a:avLst>
              <a:gd name="adj" fmla="val 5714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446525" y="3395482"/>
            <a:ext cx="658500" cy="65850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4284" y="3573241"/>
            <a:ext cx="302849" cy="30284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5"/>
          <p:cNvSpPr/>
          <p:nvPr/>
        </p:nvSpPr>
        <p:spPr>
          <a:xfrm>
            <a:off x="7315205" y="3029786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at Rest (Stored Data)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315200" y="3395475"/>
            <a:ext cx="41604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C3C2"/>
              </a:buClr>
              <a:buSzPts val="1150"/>
              <a:buFont typeface="Calibri"/>
              <a:buNone/>
            </a:pPr>
            <a:r>
              <a:rPr lang="en-US" sz="1600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Fabric automatically scrambles all stored data using AES-256 encryption, keeping it safe by default with Microsoft-managed keys.</a:t>
            </a:r>
            <a:endParaRPr sz="1600">
              <a:solidFill>
                <a:srgbClr val="AEC3C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172200" y="4577326"/>
            <a:ext cx="5486400" cy="1567613"/>
          </a:xfrm>
          <a:prstGeom prst="roundRect">
            <a:avLst>
              <a:gd name="adj" fmla="val 5714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446525" y="5077655"/>
            <a:ext cx="658500" cy="65850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4284" y="5255414"/>
            <a:ext cx="302849" cy="3028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7315205" y="4757608"/>
            <a:ext cx="4114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in Transit (Moving Data)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7315200" y="5141777"/>
            <a:ext cx="41604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C3C2"/>
              </a:buClr>
              <a:buSzPts val="1150"/>
              <a:buFont typeface="Calibri"/>
              <a:buNone/>
            </a:pPr>
            <a:r>
              <a:rPr lang="en-US" sz="1600" dirty="0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All information moving across networks is funneled through secure TLS tunnels, preventing unauthorized interception during transit.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94350" y="2891337"/>
            <a:ext cx="5074800" cy="3253602"/>
          </a:xfrm>
          <a:prstGeom prst="roundRect">
            <a:avLst>
              <a:gd name="adj" fmla="val 2623"/>
            </a:avLst>
          </a:prstGeom>
          <a:solidFill>
            <a:srgbClr val="FBF2E0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868488" y="3210805"/>
            <a:ext cx="640200" cy="640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648" y="334796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1645728" y="3274813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33E"/>
              </a:buClr>
              <a:buSzPts val="15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E0A33E"/>
                </a:solidFill>
                <a:latin typeface="Calibri"/>
                <a:ea typeface="Calibri"/>
                <a:cs typeface="Calibri"/>
                <a:sym typeface="Calibri"/>
              </a:rPr>
              <a:t>Myth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14385" y="4163255"/>
            <a:ext cx="4526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800"/>
              <a:buFont typeface="Cambria"/>
              <a:buNone/>
            </a:pPr>
            <a:r>
              <a:rPr lang="en-US" sz="1800" b="1" i="1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"</a:t>
            </a:r>
            <a:r>
              <a:rPr lang="en-US" sz="2000" b="1" i="1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CMK is what finally encrypts my data."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14385" y="4803335"/>
            <a:ext cx="45264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350"/>
              <a:buFont typeface="Calibri"/>
              <a:buNone/>
            </a:pPr>
            <a:r>
              <a:rPr lang="en-US" sz="1550" b="1" i="0" u="none" strike="noStrike" cap="non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Not true. </a:t>
            </a:r>
            <a:r>
              <a:rPr lang="en-US" sz="1550" b="0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Your data was already encrypted</a:t>
            </a:r>
            <a:r>
              <a:rPr lang="en-US" sz="155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by default 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5830" y="1395853"/>
            <a:ext cx="10881300" cy="1280100"/>
          </a:xfrm>
          <a:prstGeom prst="roundRect">
            <a:avLst>
              <a:gd name="adj" fmla="val 5714"/>
            </a:avLst>
          </a:prstGeom>
          <a:solidFill>
            <a:srgbClr val="EA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75295" y="1578695"/>
            <a:ext cx="10241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350"/>
              <a:buFont typeface="Calibri"/>
              <a:buNone/>
            </a:pPr>
            <a:r>
              <a:rPr lang="en-US" sz="1800" b="1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Data encryption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process of converting readable information into an unreadable code to prevent unauthorized access. Only users with the correct digital key can decode and view the original data.</a:t>
            </a:r>
            <a:endParaRPr sz="1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008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1338560" y="644652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CORE DISTINCTION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BYOK vs CMK: two mechanisms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They don't compete — they complement. Different levels, different data.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6"/>
          <p:cNvGraphicFramePr/>
          <p:nvPr>
            <p:extLst>
              <p:ext uri="{D42A27DB-BD31-4B8C-83A1-F6EECF244321}">
                <p14:modId xmlns:p14="http://schemas.microsoft.com/office/powerpoint/2010/main" val="2170069035"/>
              </p:ext>
            </p:extLst>
          </p:nvPr>
        </p:nvGraphicFramePr>
        <p:xfrm>
          <a:off x="640080" y="1783080"/>
          <a:ext cx="10881350" cy="3310125"/>
        </p:xfrm>
        <a:graphic>
          <a:graphicData uri="http://schemas.openxmlformats.org/drawingml/2006/table">
            <a:tbl>
              <a:tblPr>
                <a:noFill/>
                <a:tableStyleId>{3A65B350-B51D-44E3-B15E-44A5FDCE912E}</a:tableStyleId>
              </a:tblPr>
              <a:tblGrid>
                <a:gridCol w="265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BYOK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CMK (workspace)</a:t>
                      </a:r>
                      <a:endParaRPr sz="16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B2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E7C7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protects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B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 BI semantic models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B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Fabric items (Warehouse, Notebooks, SQL DB…)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B2A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Level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B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Capacity level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B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Workspace level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3EB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B2A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Origin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 BI Premium feature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Fabric feature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B2A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Generally available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February 2020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October 2025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B2A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storage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Key Vault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Azure Key Vault or Managed HSM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1B2A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Configured via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PowerShell admin cmdlets</a:t>
                      </a: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03C42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303C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Fabric portal (workspace settings)</a:t>
                      </a:r>
                      <a:endParaRPr sz="14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8100" marR="38100" marT="38100" marB="38100" anchor="ctr">
                    <a:lnL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DE5E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8" name="Google Shape;108;p6"/>
          <p:cNvSpPr/>
          <p:nvPr/>
        </p:nvSpPr>
        <p:spPr>
          <a:xfrm>
            <a:off x="640080" y="5342709"/>
            <a:ext cx="10881360" cy="756339"/>
          </a:xfrm>
          <a:prstGeom prst="roundRect">
            <a:avLst>
              <a:gd name="adj" fmla="val 9677"/>
            </a:avLst>
          </a:prstGeom>
          <a:solidFill>
            <a:srgbClr val="FBF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9" name="Google Shape;109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8680" y="565099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1325880" y="5342709"/>
            <a:ext cx="10058400" cy="756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33E"/>
              </a:buClr>
              <a:buSzPts val="12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E0A33E"/>
                </a:solidFill>
                <a:latin typeface="Calibri"/>
                <a:ea typeface="Calibri"/>
                <a:cs typeface="Calibri"/>
                <a:sym typeface="Calibri"/>
              </a:rPr>
              <a:t>Hold this boundary in mind: </a:t>
            </a:r>
            <a:r>
              <a:rPr lang="en-US" sz="1800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CMK does </a:t>
            </a:r>
            <a:r>
              <a:rPr lang="en-US" sz="1800" b="1" i="1" u="none" strike="noStrike" cap="none" dirty="0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1800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cover semantic models. 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A COMMON QUESTION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Wait — why aren't they both “BYOK”?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0080" y="13258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Technically CMK is a form of “bring your own key.” The different names are history, not hard tech.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40080" y="19202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960120" y="2212848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693" y="2405421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1901952" y="231800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Different eras,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different teams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960120" y="3049524"/>
            <a:ext cx="2880360" cy="1110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“BYOK” was Power BI's 2020 name. “CMK” is the term Azure uses across all its services. Fabric followed the Azure convention.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297680" y="19202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617720" y="2212848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0293" y="2405421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5559552" y="2318004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The industry shifted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655820" y="3086100"/>
            <a:ext cx="2880360" cy="99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“CMK” became the de-facto standard term. “BYOK” now more often means importing a key you generated yourself.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955280" y="19202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275320" y="2212848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7893" y="2405421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9218458" y="227914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Different names aid clarity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275320" y="3140964"/>
            <a:ext cx="2880360" cy="980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With two mechanisms side by side, distinct names disambiguate which layer you mean. Same name would be chaos.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4572000"/>
            <a:ext cx="10744200" cy="1417320"/>
          </a:xfrm>
          <a:prstGeom prst="roundRect">
            <a:avLst>
              <a:gd name="adj" fmla="val 5161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960120" y="4956048"/>
            <a:ext cx="658368" cy="658368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8" name="Google Shape;13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37879" y="5133807"/>
            <a:ext cx="302849" cy="302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1828800" y="4754880"/>
            <a:ext cx="9326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350"/>
              <a:buFont typeface="Calibri"/>
              <a:buNone/>
            </a:pPr>
            <a:r>
              <a:rPr lang="en-US" b="1" i="0" u="none" strike="noStrike" cap="none" dirty="0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The irony:  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Microsoft’s Fabric updates blog, they used the title </a:t>
            </a:r>
            <a:r>
              <a:rPr lang="en-US" b="1" i="1" u="none" strike="noStrike" cap="none" dirty="0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“Workspace Customer-Managed Keys for BYOK in Microsoft Fabric (Preview)”</a:t>
            </a:r>
            <a:r>
              <a:rPr lang="en-US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Both 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terms in one title. The distinction is organizational and historical, not a hard technical line.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WHAT IT ACTUALLY DOES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Three things CMK gives you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4008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960120" y="1965960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693" y="2158533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1847088" y="202996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Key lifecycle &amp; rotation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960120" y="283464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You create, own and rotate keys in Azure Key Vault or Managed HSM.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29768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4617720" y="1965960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0293" y="2158533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5504688" y="202996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Granular access control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617720" y="283464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Key Vault Crypto Service Encryption User role </a:t>
            </a:r>
            <a:r>
              <a:rPr lang="en-US" sz="1300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can </a:t>
            </a: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get, wrap &amp; unwrap only, never full key access.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955280" y="169164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8275320" y="1965960"/>
            <a:ext cx="713232" cy="713232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67893" y="2158533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/>
          <p:nvPr/>
        </p:nvSpPr>
        <p:spPr>
          <a:xfrm>
            <a:off x="9162288" y="2029968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Auditability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8275320" y="2834640"/>
            <a:ext cx="28803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Key Vault logs every use,  a concrete, demonstrable audit trail.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0080" y="3840480"/>
            <a:ext cx="10744200" cy="1143000"/>
          </a:xfrm>
          <a:prstGeom prst="roundRect">
            <a:avLst>
              <a:gd name="adj" fmla="val 6400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60120" y="4133088"/>
            <a:ext cx="566928" cy="566928"/>
          </a:xfrm>
          <a:prstGeom prst="ellipse">
            <a:avLst/>
          </a:prstGeom>
          <a:solidFill>
            <a:srgbClr val="E0A33E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13191" y="4286159"/>
            <a:ext cx="260787" cy="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783080" y="3950208"/>
            <a:ext cx="9418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E0A33E"/>
              </a:buClr>
              <a:buSzPts val="135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E0A33E"/>
                </a:solidFill>
                <a:latin typeface="Calibri"/>
                <a:ea typeface="Calibri"/>
                <a:cs typeface="Calibri"/>
                <a:sym typeface="Calibri"/>
              </a:rPr>
              <a:t>The kill switch:  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revoke the key in Key Vault and access to the workspace is blocked within ~1 hour. Disable CMK and the workspace simply reverts to Microsoft-managed keys.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40080" y="52120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A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868680" y="5285232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5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Covered today:  </a:t>
            </a:r>
            <a:r>
              <a:rPr lang="en-US" sz="1200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All data in </a:t>
            </a:r>
            <a:r>
              <a:rPr lang="en-US" sz="1200" b="0" i="0" u="none" strike="noStrike" cap="none" dirty="0" err="1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OneLake</a:t>
            </a:r>
            <a:r>
              <a:rPr lang="en-US" sz="1200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— via Lakehouse, Warehouse, Notebooks, SQL Database and 10+ more items (GA); </a:t>
            </a:r>
            <a:r>
              <a:rPr lang="en-US" sz="1200" b="0" i="0" u="none" strike="noStrike" cap="none" dirty="0" err="1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Eventhouse</a:t>
            </a:r>
            <a:r>
              <a:rPr lang="en-US" sz="1200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(preview).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126480" y="52120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A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355080" y="5285232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50"/>
              <a:buFont typeface="Calibri"/>
              <a:buNone/>
            </a:pPr>
            <a:r>
              <a:rPr lang="en-US" b="1" i="0" u="none" strike="noStrike" cap="none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Recent win:  </a:t>
            </a:r>
            <a:r>
              <a:rPr lang="en-US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CMK now works in BYOK-enabled capacities — no separate capacities needed (preview).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FOR MAXIMUM ASSURANCE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Two independent axes (and what MHSM is)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0080" y="1691640"/>
            <a:ext cx="4206240" cy="4297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960120" y="2011680"/>
            <a:ext cx="731520" cy="731520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3" name="Google Shape;183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7630" y="220919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9"/>
          <p:cNvSpPr/>
          <p:nvPr/>
        </p:nvSpPr>
        <p:spPr>
          <a:xfrm>
            <a:off x="1874520" y="2121408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What is Managed HSM?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914400" y="3034240"/>
            <a:ext cx="36118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303C42"/>
              </a:buClr>
              <a:buSzPts val="1250"/>
              <a:buFont typeface="Calibri"/>
              <a:buNone/>
            </a:pPr>
            <a:r>
              <a:rPr lang="en-US" b="0" i="0" u="none" strike="noStrike" cap="none" dirty="0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A dedicated, single-tenant pool of hardware security modules vs Key Vault, where keys are software-protected (Standard) or HSM-protected but shared across tenants (Premium).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•"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Dedicated &amp; single-tenant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•"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FIPS 140-3 Level 3 validated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Char char="•"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Hardware-backed key isolation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14400" y="516636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50"/>
              <a:buFont typeface="Calibri"/>
              <a:buNone/>
            </a:pPr>
            <a:r>
              <a:rPr lang="en-US" sz="1150" b="0" i="1" u="none" strike="noStrike" cap="none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Choose MHSM when strict compliance demands hardware-backed, FIPS-validated key storage.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212080" y="1737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AXIS 1  ·  Mechanism  →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 rot="-5400000">
            <a:off x="5006340" y="2157985"/>
            <a:ext cx="457200" cy="3273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150"/>
              <a:buFont typeface="Calibri"/>
              <a:buNone/>
            </a:pPr>
            <a:r>
              <a:rPr lang="en-US" sz="1150" b="1" i="0" u="none" strike="noStrike" cap="none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AXIS 2 · Key storage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623560" y="214884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EAF2F1"/>
          </a:solidFill>
          <a:ln w="127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160" y="2404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/>
          <p:nvPr/>
        </p:nvSpPr>
        <p:spPr>
          <a:xfrm>
            <a:off x="6336792" y="2377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BYOK + Key Vault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879592" y="2953512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Semantic models, standard vault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851392" y="2148840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EAF2F1"/>
          </a:solidFill>
          <a:ln w="127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4" name="Google Shape;194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9992" y="24048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9564624" y="2377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CMK + Key Vault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9107424" y="2953512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Fabric items, standard vault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623560" y="3867912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E2EEED"/>
          </a:solidFill>
          <a:ln w="127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160" y="4123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/>
          <p:nvPr/>
        </p:nvSpPr>
        <p:spPr>
          <a:xfrm>
            <a:off x="6336792" y="409651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BYOK + Managed HSM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879592" y="4672584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Semantic models, hardware HSM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851392" y="3867912"/>
            <a:ext cx="3063240" cy="1554480"/>
          </a:xfrm>
          <a:prstGeom prst="roundRect">
            <a:avLst>
              <a:gd name="adj" fmla="val 4706"/>
            </a:avLst>
          </a:prstGeom>
          <a:solidFill>
            <a:srgbClr val="E2EEED"/>
          </a:solidFill>
          <a:ln w="127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2" name="Google Shape;202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79992" y="41239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/>
          <p:nvPr/>
        </p:nvSpPr>
        <p:spPr>
          <a:xfrm>
            <a:off x="9564624" y="4096512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CMK + Managed HSM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9107424" y="4672584"/>
            <a:ext cx="2606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Fabric items, hardware HSM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623560" y="5513832"/>
            <a:ext cx="62910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03C42"/>
              </a:buClr>
              <a:buSzPts val="1150"/>
              <a:buFont typeface="Calibri"/>
              <a:buNone/>
            </a:pPr>
            <a:r>
              <a:rPr lang="en-US" sz="1150" b="0" i="1" u="none" strike="noStrike" cap="none" dirty="0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All four combinations are valid. MHSM is a property of key storage — not a third option beside BYOK and CMK.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THE TRUST MODEL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But does the key live inside Microsoft?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40080" y="1499616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6323A"/>
          </a:solidFill>
          <a:ln w="127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960120" y="1819656"/>
            <a:ext cx="713232" cy="713232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2693" y="2012229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1874520" y="191109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Yes, the hardware is Microsoft's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051560" y="2779776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C9D6DB"/>
              </a:buClr>
              <a:buSzPts val="130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Runs in Microsoft datacenters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C9D6DB"/>
              </a:buClr>
              <a:buSzPts val="130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Microsoft patches &amp; maintains the machines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C9D6DB"/>
              </a:buClr>
              <a:buSzPts val="130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“Managed” means they manage the hardware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9230"/>
              </a:lnSpc>
              <a:spcBef>
                <a:spcPts val="0"/>
              </a:spcBef>
              <a:spcAft>
                <a:spcPts val="0"/>
              </a:spcAft>
              <a:buClr>
                <a:srgbClr val="C9D6DB"/>
              </a:buClr>
              <a:buSzPts val="130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You don't host a physical device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172200" y="1499616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0E7C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6492240" y="1819656"/>
            <a:ext cx="713232" cy="713232"/>
          </a:xfrm>
          <a:prstGeom prst="ellipse">
            <a:avLst/>
          </a:prstGeom>
          <a:solidFill>
            <a:srgbClr val="1B2A33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2" name="Google Shape;222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4813" y="2012229"/>
            <a:ext cx="328087" cy="32808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0"/>
          <p:cNvSpPr/>
          <p:nvPr/>
        </p:nvSpPr>
        <p:spPr>
          <a:xfrm>
            <a:off x="7406640" y="1911096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 the key is out of their reach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6583680" y="2779776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AF7F5"/>
              </a:buClr>
              <a:buSzPts val="125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EAF7F5"/>
                </a:solidFill>
                <a:latin typeface="Calibri"/>
                <a:ea typeface="Calibri"/>
                <a:cs typeface="Calibri"/>
                <a:sym typeface="Calibri"/>
              </a:rPr>
              <a:t>On an HSM-backed tier, keys are generated &amp; kept inside FIPS-validated hardware — they never leave in plaintext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AF7F5"/>
              </a:buClr>
              <a:buSzPts val="125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EAF7F5"/>
                </a:solidFill>
                <a:latin typeface="Calibri"/>
                <a:ea typeface="Calibri"/>
                <a:cs typeface="Calibri"/>
                <a:sym typeface="Calibri"/>
              </a:rPr>
              <a:t>Microsoft operators have no data-plane access to your key material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AF7F5"/>
              </a:buClr>
              <a:buSzPts val="125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EAF7F5"/>
                </a:solidFill>
                <a:latin typeface="Calibri"/>
                <a:ea typeface="Calibri"/>
                <a:cs typeface="Calibri"/>
                <a:sym typeface="Calibri"/>
              </a:rPr>
              <a:t>Each Key Vault or Managed HSM is yours alone — MHSM adds a customer-owned security domain for extra isolation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EAF7F5"/>
              </a:buClr>
              <a:buSzPts val="1250"/>
              <a:buFont typeface="Calibri"/>
              <a:buChar char="•"/>
            </a:pPr>
            <a:r>
              <a:rPr lang="en-US" b="0" i="0" u="none" strike="noStrike" cap="none" dirty="0">
                <a:solidFill>
                  <a:srgbClr val="EAF7F5"/>
                </a:solidFill>
                <a:latin typeface="Calibri"/>
                <a:ea typeface="Calibri"/>
                <a:cs typeface="Calibri"/>
                <a:sym typeface="Calibri"/>
              </a:rPr>
              <a:t>You can revoke at any time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40080" y="5358384"/>
            <a:ext cx="10881360" cy="978408"/>
          </a:xfrm>
          <a:prstGeom prst="roundRect">
            <a:avLst>
              <a:gd name="adj" fmla="val 7692"/>
            </a:avLst>
          </a:prstGeom>
          <a:solidFill>
            <a:srgbClr val="FBF2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914400" y="5522976"/>
            <a:ext cx="10424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E0A33E"/>
              </a:buClr>
              <a:buSzPts val="1250"/>
              <a:buFont typeface="Calibri"/>
              <a:buNone/>
            </a:pPr>
            <a:r>
              <a:rPr lang="en-US" b="1" i="0" u="none" strike="noStrike" cap="none" dirty="0">
                <a:solidFill>
                  <a:srgbClr val="E0A33E"/>
                </a:solidFill>
                <a:latin typeface="Calibri"/>
                <a:ea typeface="Calibri"/>
                <a:cs typeface="Calibri"/>
                <a:sym typeface="Calibri"/>
              </a:rPr>
              <a:t>The accurate framing:  </a:t>
            </a:r>
            <a:r>
              <a:rPr lang="en-US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the key sits in Microsoft's hardware, but is designed so Microsoft can't operationally reach it and you can pull the plug. CMK shifts the trust model; it doesn't remove Microsoft from the chain, the exact gap EUCS’s “high” tier tests for, and that gap narrows most on an HSM-backed tier.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3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1417320" y="2331720"/>
            <a:ext cx="1188720" cy="1188720"/>
          </a:xfrm>
          <a:prstGeom prst="ellipse">
            <a:avLst/>
          </a:prstGeom>
          <a:solidFill>
            <a:srgbClr val="1B2A33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6" name="Google Shape;236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8274" y="2652674"/>
            <a:ext cx="546811" cy="54681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/>
          <p:nvPr/>
        </p:nvSpPr>
        <p:spPr>
          <a:xfrm>
            <a:off x="457200" y="365760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LIVE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57200" y="4160520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DEMO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26280" y="13716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~12 MINUTES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526280" y="1691640"/>
            <a:ext cx="71323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Enabling CMK on a workspace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0" y="2606040"/>
            <a:ext cx="457200" cy="45720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57200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212080" y="25603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point   </a:t>
            </a:r>
            <a:r>
              <a:rPr lang="en-US" sz="1300" b="0" i="0" u="none" strike="noStrike" cap="none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A workspace on MMK — our baseline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572000" y="3355848"/>
            <a:ext cx="457200" cy="45720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4572000" y="3355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212080" y="3310128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key in Azure Key Vault   </a:t>
            </a:r>
            <a:r>
              <a:rPr lang="en-US" sz="1300" b="0" i="0" u="none" strike="noStrike" cap="none" dirty="0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Your resource, your RBAC — tie back to the envelope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572000" y="4105656"/>
            <a:ext cx="457200" cy="45720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4572000" y="41056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212080" y="4059936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Enable CMK   </a:t>
            </a:r>
            <a:r>
              <a:rPr lang="en-US" sz="1300" b="0" i="0" u="none" strike="noStrike" cap="none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Workspace settings → select the key (the core action)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572000" y="4855464"/>
            <a:ext cx="457200" cy="457200"/>
          </a:xfrm>
          <a:prstGeom prst="ellipse">
            <a:avLst/>
          </a:prstGeom>
          <a:solidFill>
            <a:srgbClr val="3AAF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572000" y="48554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212080" y="4809744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 the boundary   </a:t>
            </a:r>
            <a:r>
              <a:rPr lang="en-US" sz="1300" b="0" i="0" u="none" strike="noStrike" cap="none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An unsupported item is blocked in a CMK workspace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4572000" y="5605272"/>
            <a:ext cx="457200" cy="457200"/>
          </a:xfrm>
          <a:prstGeom prst="ellipse">
            <a:avLst/>
          </a:prstGeom>
          <a:solidFill>
            <a:srgbClr val="E0A3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572000" y="5605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5212080" y="5559552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kill switch   </a:t>
            </a:r>
            <a:r>
              <a:rPr lang="en-US" sz="1300" b="0" i="0" u="none" strike="noStrike" cap="none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Revoke the key → blocked state (shown live, revoked in advance)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This is what “blocked” actually looks like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92;p13">
            <a:extLst>
              <a:ext uri="{FF2B5EF4-FFF2-40B4-BE49-F238E27FC236}">
                <a16:creationId xmlns:a16="http://schemas.microsoft.com/office/drawing/2014/main" id="{4717665D-BD21-14F7-DF15-58020BEF12A4}"/>
              </a:ext>
            </a:extLst>
          </p:cNvPr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KILL SWITCH, CONFIRMED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A25F63-0F8C-7FD4-DF0E-62C52DA60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470660"/>
            <a:ext cx="8686800" cy="4089934"/>
          </a:xfrm>
          <a:prstGeom prst="rect">
            <a:avLst/>
          </a:prstGeom>
          <a:ln w="9525">
            <a:solidFill>
              <a:srgbClr val="D7E0DF"/>
            </a:solidFill>
          </a:ln>
          <a:effectLst>
            <a:outerShdw blurRad="88900" dist="25400" dir="5400000" algn="bl" rotWithShape="0">
              <a:srgbClr val="000000">
                <a:alpha val="16000"/>
              </a:srgbClr>
            </a:outerShdw>
          </a:effectLst>
        </p:spPr>
      </p:pic>
      <p:sp>
        <p:nvSpPr>
          <p:cNvPr id="900" name="CaptionBlock"/>
          <p:cNvSpPr/>
          <p:nvPr/>
        </p:nvSpPr>
        <p:spPr>
          <a:xfrm>
            <a:off x="1752600" y="5610594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Workspace A, revoked days earlier — a live notebook run against Fabric, not a recording.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1" i="0" u="none" strike="noStrike" cap="none" dirty="0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KeyVaultEncryptionKeyNotFound</a:t>
            </a:r>
            <a:r>
              <a:rPr lang="en-US" sz="1150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— “the key vault key is not found to unwrap the encryption key.”</a:t>
            </a:r>
          </a:p>
        </p:txBody>
      </p:sp>
    </p:spTree>
    <p:extLst>
      <p:ext uri="{BB962C8B-B14F-4D97-AF65-F5344CB8AC3E}">
        <p14:creationId xmlns:p14="http://schemas.microsoft.com/office/powerpoint/2010/main" val="46860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2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 dirty="0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The log confirms use — not who, or which workspace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92;p13">
            <a:extLst>
              <a:ext uri="{FF2B5EF4-FFF2-40B4-BE49-F238E27FC236}">
                <a16:creationId xmlns:a16="http://schemas.microsoft.com/office/drawing/2014/main" id="{4717665D-BD21-14F7-DF15-58020BEF12A4}"/>
              </a:ext>
            </a:extLst>
          </p:cNvPr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PROOF OF USE, NOT PROOF OF WHO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CaptionBlock"/>
          <p:cNvSpPr/>
          <p:nvPr/>
        </p:nvSpPr>
        <p:spPr>
          <a:xfrm>
            <a:off x="1752600" y="576600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Every automated KeyUnwrap/KeyGet call shares the same </a:t>
            </a:r>
            <a:r>
              <a:rPr lang="en-US" sz="1050" b="0" i="0" u="none" strike="noStrike" cap="none" dirty="0">
                <a:solidFill>
                  <a:srgbClr val="5B6B72"/>
                </a:solidFill>
                <a:latin typeface="Consolas"/>
                <a:ea typeface="Consolas"/>
                <a:cs typeface="Consolas"/>
                <a:sym typeface="Consolas"/>
              </a:rPr>
              <a:t>identity_claim_appid_g</a:t>
            </a:r>
            <a:r>
              <a:rPr lang="en-US" sz="1100" b="0" i="1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E7C7B"/>
                </a:solidFill>
                <a:latin typeface="Consolas"/>
                <a:ea typeface="Consolas"/>
                <a:cs typeface="Consolas"/>
                <a:sym typeface="Consolas"/>
              </a:rPr>
              <a:t>61d6811f-7544-4e75…</a:t>
            </a:r>
            <a:r>
              <a:rPr lang="en-US" sz="1100" b="0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— Fabric’s shared “Fabric Platform CMK” app. It proves the key was used, not by which workspace or user.</a:t>
            </a:r>
          </a:p>
        </p:txBody>
      </p:sp>
      <p:sp>
        <p:nvSpPr>
          <p:cNvPr id="901" name="CodeBlock"/>
          <p:cNvSpPr/>
          <p:nvPr/>
        </p:nvSpPr>
        <p:spPr>
          <a:xfrm>
            <a:off x="1752600" y="1500000"/>
            <a:ext cx="8686800" cy="1150000"/>
          </a:xfrm>
          <a:prstGeom prst="roundRect">
            <a:avLst>
              <a:gd name="adj" fmla="val 4706"/>
            </a:avLst>
          </a:prstGeom>
          <a:solidFill>
            <a:srgbClr val="1B2A33"/>
          </a:solidFill>
          <a:ln>
            <a:noFill/>
          </a:ln>
        </p:spPr>
        <p:txBody>
          <a:bodyPr spcFirstLastPara="1" wrap="square" lIns="228600" tIns="137160" rIns="228600" bIns="13716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000" b="1" i="0" u="none" strike="noStrike" cap="none" dirty="0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KQL QUERY USED IN LOG ANALYTICS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EAF2F1"/>
                </a:solidFill>
                <a:latin typeface="Consolas"/>
                <a:ea typeface="Consolas"/>
                <a:cs typeface="Consolas"/>
                <a:sym typeface="Consolas"/>
              </a:rPr>
              <a:t>AzureDiagnostics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EAF2F1"/>
                </a:solidFill>
                <a:latin typeface="Consolas"/>
                <a:ea typeface="Consolas"/>
                <a:cs typeface="Consolas"/>
                <a:sym typeface="Consolas"/>
              </a:rPr>
              <a:t>| where ResourceProvider == "MICROSOFT.KEYVAULT"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EAF2F1"/>
                </a:solidFill>
                <a:latin typeface="Consolas"/>
                <a:ea typeface="Consolas"/>
                <a:cs typeface="Consolas"/>
                <a:sym typeface="Consolas"/>
              </a:rPr>
              <a:t>| where OperationName in ("KeyGet", "KeyUnwrap", "KeyWrap")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EAF2F1"/>
                </a:solidFill>
                <a:latin typeface="Consolas"/>
                <a:ea typeface="Consolas"/>
                <a:cs typeface="Consolas"/>
                <a:sym typeface="Consolas"/>
              </a:rPr>
              <a:t>| project TimeGenerated, OperationName, CallerIPAddress, identity_claim_appid_g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rgbClr val="EAF2F1"/>
                </a:solidFill>
                <a:latin typeface="Consolas"/>
                <a:ea typeface="Consolas"/>
                <a:cs typeface="Consolas"/>
                <a:sym typeface="Consolas"/>
              </a:rPr>
              <a:t>| order by TimeGenerated desc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E233C-564C-4149-CD84-38814E422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000" y="2780000"/>
            <a:ext cx="5800000" cy="2856000"/>
          </a:xfrm>
          <a:prstGeom prst="rect">
            <a:avLst/>
          </a:prstGeom>
          <a:ln w="9525">
            <a:solidFill>
              <a:srgbClr val="D7E0DF"/>
            </a:solidFill>
          </a:ln>
          <a:effectLst>
            <a:outerShdw blurRad="88900" dist="25400" dir="5400000" algn="bl" rotWithShape="0">
              <a:srgbClr val="000000">
                <a:alpha val="1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6331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WHAT IT DOES NOT DO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The honest limits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640080" y="17373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" name="Google Shape;266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0299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2"/>
          <p:cNvSpPr/>
          <p:nvPr/>
        </p:nvSpPr>
        <p:spPr>
          <a:xfrm>
            <a:off x="1645920" y="193852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No semantic models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1645920" y="2304288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CMK does not cover Power BI semantic models. That still needs BYOK. The #1 confusion.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126480" y="173736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0" y="202996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2"/>
          <p:cNvSpPr/>
          <p:nvPr/>
        </p:nvSpPr>
        <p:spPr>
          <a:xfrm>
            <a:off x="7132320" y="193852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Not all data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7132320" y="2304288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Lakehouse column names, table format and table compression fall outside CMK.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40080" y="31546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344728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/>
          <p:nvPr/>
        </p:nvSpPr>
        <p:spPr>
          <a:xfrm>
            <a:off x="1645920" y="335584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Workspace constraints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645920" y="3721608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Can't enable CMK on a workspace with unsupported items; only supported items can be created in one.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126480" y="3154680"/>
            <a:ext cx="5257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0" y="344728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/>
          <p:nvPr/>
        </p:nvSpPr>
        <p:spPr>
          <a:xfrm>
            <a:off x="7132320" y="335584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Operational edges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7132320" y="3721608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SQL Database won't auto-revalidate the </a:t>
            </a:r>
            <a:r>
              <a:rPr lang="en-US" sz="1300" b="0" i="0" u="none" strike="noStrike" cap="none" dirty="0" err="1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key — manual</a:t>
            </a: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 step. 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40080" y="4663440"/>
            <a:ext cx="10744200" cy="1417320"/>
          </a:xfrm>
          <a:prstGeom prst="roundRect">
            <a:avLst>
              <a:gd name="adj" fmla="val 5161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960120" y="5029200"/>
            <a:ext cx="658368" cy="658368"/>
          </a:xfrm>
          <a:prstGeom prst="ellipse">
            <a:avLst/>
          </a:prstGeom>
          <a:solidFill>
            <a:srgbClr val="D9534F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3" name="Google Shape;283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879" y="5206959"/>
            <a:ext cx="302849" cy="30284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/>
          <p:nvPr/>
        </p:nvSpPr>
        <p:spPr>
          <a:xfrm>
            <a:off x="1828800" y="4828032"/>
            <a:ext cx="9372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D9534F"/>
              </a:buClr>
              <a:buSzPts val="1300"/>
              <a:buFont typeface="Calibri"/>
              <a:buNone/>
            </a:pPr>
            <a:r>
              <a:rPr lang="en-US" b="1" i="0" u="none" strike="noStrike" cap="none" dirty="0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Myth: </a:t>
            </a:r>
            <a:r>
              <a:rPr lang="en-US" b="0" i="1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“With CMK, Microsoft can't touch my data.”  </a:t>
            </a:r>
            <a:r>
              <a:rPr lang="en-US" b="1" i="0" u="none" strike="noStrike" cap="none" dirty="0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Reality: 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b="0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r>
              <a:rPr lang="en-US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lives in Microsoft's hardware (even MHSM), but built so they can't operationally reach it and a lost or revoked key means inaccessible data. CMK shifts an operational burden onto your team.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BEFORE YOU TRY IT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It needs a real (paid) capacity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40080" y="17830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BE7E6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10312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3"/>
          <p:cNvSpPr/>
          <p:nvPr/>
        </p:nvSpPr>
        <p:spPr>
          <a:xfrm>
            <a:off x="1645920" y="208483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The 60-day trial won't work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914400" y="288036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03C4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CMK is supported on all F SKUs — but </a:t>
            </a:r>
            <a:r>
              <a:rPr lang="en-US" sz="1300" b="1" i="0" u="none" strike="noStrike" cap="none">
                <a:solidFill>
                  <a:srgbClr val="D9534F"/>
                </a:solidFill>
                <a:latin typeface="Calibri"/>
                <a:ea typeface="Calibri"/>
                <a:cs typeface="Calibri"/>
                <a:sym typeface="Calibri"/>
              </a:rPr>
              <a:t>trial capacities can't be used for CMK encryption.</a:t>
            </a:r>
            <a:r>
              <a:rPr lang="en-US" sz="1300" b="0" i="0" u="none" strike="noStrike" cap="none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 You need a real F-SKU (from F2).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126480" y="1783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40080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F2 pay-as-you-go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400800" y="233172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€0.42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8686800" y="2743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EC3C2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per hour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6400800" y="31546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AEC3C2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AEC3C2"/>
                </a:solidFill>
                <a:latin typeface="Calibri"/>
                <a:ea typeface="Calibri"/>
                <a:cs typeface="Calibri"/>
                <a:sym typeface="Calibri"/>
              </a:rPr>
              <a:t>Billed per second, 1-minute minimum. Pause anytime — no time limit, no compute charge while paused.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40080" y="388620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EAF2F1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7222" y="4333342"/>
            <a:ext cx="294437" cy="29443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3"/>
          <p:cNvSpPr/>
          <p:nvPr/>
        </p:nvSpPr>
        <p:spPr>
          <a:xfrm>
            <a:off x="1691640" y="4206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The demo budget plan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1691640" y="475488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03C42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Spin up an F2 (pick an available region — e.g. Sweden Central), stage two workspaces, pause between practice runs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03C42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Set an Azure budget alert (e.g. €10) via Cost Management as a safety net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03C42"/>
              </a:buClr>
              <a:buSzPts val="1250"/>
              <a:buFont typeface="Calibri"/>
              <a:buChar char="✓"/>
            </a:pPr>
            <a:r>
              <a:rPr lang="en-US" sz="1250" b="0" i="0" u="none" strike="noStrike" cap="none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Show it live during the talk; delete the capacity + Key Vault afterward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9144000" y="4572000"/>
            <a:ext cx="2148840" cy="1234440"/>
          </a:xfrm>
          <a:prstGeom prst="roundRect">
            <a:avLst>
              <a:gd name="adj" fmla="val 7407"/>
            </a:avLst>
          </a:prstGeom>
          <a:solidFill>
            <a:srgbClr val="0E7C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9144000" y="4681728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7F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AF7F5"/>
                </a:solidFill>
                <a:latin typeface="Calibri"/>
                <a:ea typeface="Calibri"/>
                <a:cs typeface="Calibri"/>
                <a:sym typeface="Calibri"/>
              </a:rPr>
              <a:t>under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9144000" y="4892040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€5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9144000" y="548640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AF7F5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AF7F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401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REAL USE CASES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Shape 402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Where it earns its operational cost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Shape 403"/>
          <p:cNvSpPr/>
          <p:nvPr/>
        </p:nvSpPr>
        <p:spPr>
          <a:xfrm>
            <a:off x="594360" y="1321308"/>
            <a:ext cx="5257800" cy="14173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Shape 404"/>
          <p:cNvSpPr/>
          <p:nvPr/>
        </p:nvSpPr>
        <p:spPr>
          <a:xfrm>
            <a:off x="868680" y="1613916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 b="1" i="0" u="none" strike="noStrike" cap="non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5" name="Shape 405"/>
          <p:cNvSpPr/>
          <p:nvPr/>
        </p:nvSpPr>
        <p:spPr>
          <a:xfrm>
            <a:off x="1600200" y="152247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Incident response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Shape 406"/>
          <p:cNvSpPr/>
          <p:nvPr/>
        </p:nvSpPr>
        <p:spPr>
          <a:xfrm>
            <a:off x="1600200" y="1924812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Suspected breach? Revoke the key and every read/write fails within the hour, even for Microsoft's own operators. False alarm? Restore access, nothing lost.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Shape 407"/>
          <p:cNvSpPr/>
          <p:nvPr/>
        </p:nvSpPr>
        <p:spPr>
          <a:xfrm>
            <a:off x="6080760" y="1321308"/>
            <a:ext cx="5257800" cy="14173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Shape 408"/>
          <p:cNvSpPr/>
          <p:nvPr/>
        </p:nvSpPr>
        <p:spPr>
          <a:xfrm>
            <a:off x="6355080" y="1613916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 b="1" i="0" u="none" strike="noStrike" cap="non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09" name="Shape 409"/>
          <p:cNvSpPr/>
          <p:nvPr/>
        </p:nvSpPr>
        <p:spPr>
          <a:xfrm>
            <a:off x="7086600" y="152247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Vendor &amp; tenant offboarding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Shape 410"/>
          <p:cNvSpPr/>
          <p:nvPr/>
        </p:nvSpPr>
        <p:spPr>
          <a:xfrm>
            <a:off x="7063740" y="195355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Give each customer or contractor its own workspace and key. When the relationship ends, revoke that one key, guaranteed cutoff, no hunting for copies.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Shape 411"/>
          <p:cNvSpPr/>
          <p:nvPr/>
        </p:nvSpPr>
        <p:spPr>
          <a:xfrm>
            <a:off x="640080" y="2971800"/>
            <a:ext cx="5257800" cy="141732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Shape 412"/>
          <p:cNvSpPr/>
          <p:nvPr/>
        </p:nvSpPr>
        <p:spPr>
          <a:xfrm>
            <a:off x="914400" y="3246120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 b="1" i="0" u="none" strike="noStrike" cap="non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3" name="Shape 413"/>
          <p:cNvSpPr/>
          <p:nvPr/>
        </p:nvSpPr>
        <p:spPr>
          <a:xfrm>
            <a:off x="1645920" y="31546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sz="145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M&amp;A and divestiture</a:t>
            </a:r>
            <a:endParaRPr sz="1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Shape 414"/>
          <p:cNvSpPr/>
          <p:nvPr/>
        </p:nvSpPr>
        <p:spPr>
          <a:xfrm>
            <a:off x="1645920" y="3580203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Selling a business unit or splitting a joint venture? A dedicated key per workspace proves, at separation, the other side can no longer read that data.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Shape 415"/>
          <p:cNvSpPr/>
          <p:nvPr/>
        </p:nvSpPr>
        <p:spPr>
          <a:xfrm>
            <a:off x="6126480" y="3012948"/>
            <a:ext cx="5257800" cy="137617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Shape 416"/>
          <p:cNvSpPr/>
          <p:nvPr/>
        </p:nvSpPr>
        <p:spPr>
          <a:xfrm>
            <a:off x="6400800" y="3248733"/>
            <a:ext cx="548640" cy="54864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 b="1" i="0" u="none" strike="noStrike" cap="non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7" name="Shape 417"/>
          <p:cNvSpPr/>
          <p:nvPr/>
        </p:nvSpPr>
        <p:spPr>
          <a:xfrm>
            <a:off x="7132320" y="3157293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450"/>
              <a:buFont typeface="Calibri"/>
              <a:buNone/>
            </a:pPr>
            <a:r>
              <a:rPr lang="en-US" sz="145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Provable control for regulators</a:t>
            </a:r>
            <a:endParaRPr sz="1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Shape 418"/>
          <p:cNvSpPr/>
          <p:nvPr/>
        </p:nvSpPr>
        <p:spPr>
          <a:xfrm>
            <a:off x="7109460" y="3591633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5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Finance (DORA), government (EUCS “high”), healthcare: auditors increasingly want to see that you, not Microsoft, hold the keys, and that revocation actually works.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Shape 419"/>
          <p:cNvSpPr/>
          <p:nvPr/>
        </p:nvSpPr>
        <p:spPr>
          <a:xfrm>
            <a:off x="640080" y="4663440"/>
            <a:ext cx="10744200" cy="1417320"/>
          </a:xfrm>
          <a:prstGeom prst="roundRect">
            <a:avLst>
              <a:gd name="adj" fmla="val 5161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Shape 420"/>
          <p:cNvSpPr/>
          <p:nvPr/>
        </p:nvSpPr>
        <p:spPr>
          <a:xfrm>
            <a:off x="960120" y="5029200"/>
            <a:ext cx="658368" cy="658368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Shape 421"/>
          <p:cNvSpPr/>
          <p:nvPr/>
        </p:nvSpPr>
        <p:spPr>
          <a:xfrm>
            <a:off x="1828800" y="4828032"/>
            <a:ext cx="9372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3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The common thread: 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none of this is about everyday performance, it's about having a credible, technical answer ready for the one day you need to cut off access permanently and provably.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Shape 4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Shape 423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1;p5" descr="preencoded.png">
            <a:extLst>
              <a:ext uri="{FF2B5EF4-FFF2-40B4-BE49-F238E27FC236}">
                <a16:creationId xmlns:a16="http://schemas.microsoft.com/office/drawing/2014/main" id="{5F4C1F7B-7EB6-41AB-76C7-C2E17343EC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424" y="5170279"/>
            <a:ext cx="36576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THE DECISION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i="0" u="none" strike="noStrike" cap="none">
                <a:solidFill>
                  <a:srgbClr val="1B2A33"/>
                </a:solidFill>
                <a:latin typeface="Cambria"/>
                <a:ea typeface="Cambria"/>
                <a:cs typeface="Cambria"/>
                <a:sym typeface="Cambria"/>
              </a:rPr>
              <a:t>Do you actually need CMK?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40080" y="178308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EA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322" name="Google Shape;32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05740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/>
          <p:nvPr/>
        </p:nvSpPr>
        <p:spPr>
          <a:xfrm>
            <a:off x="1645920" y="202996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For most teams: MMK is fine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914400" y="274320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03C42"/>
              </a:buClr>
              <a:buSzPts val="1200"/>
              <a:buFont typeface="Calibri"/>
              <a:buNone/>
            </a:pPr>
            <a:r>
              <a:rPr lang="en-US" sz="1600" b="0" i="0" u="none" strike="noStrike" cap="none">
                <a:solidFill>
                  <a:srgbClr val="303C42"/>
                </a:solidFill>
                <a:latin typeface="Calibri"/>
                <a:ea typeface="Calibri"/>
                <a:cs typeface="Calibri"/>
                <a:sym typeface="Calibri"/>
              </a:rPr>
              <a:t>Default Microsoft-managed encryption already meets the bar for the majority of workloads.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640080" y="3474720"/>
            <a:ext cx="5257800" cy="2560320"/>
          </a:xfrm>
          <a:prstGeom prst="roundRect">
            <a:avLst>
              <a:gd name="adj" fmla="val 2857"/>
            </a:avLst>
          </a:prstGeom>
          <a:solidFill>
            <a:srgbClr val="1B2A33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6" name="Google Shape;326;p14"/>
          <p:cNvSpPr/>
          <p:nvPr/>
        </p:nvSpPr>
        <p:spPr>
          <a:xfrm>
            <a:off x="914400" y="37033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500"/>
              <a:buFont typeface="Calibri"/>
              <a:buNone/>
            </a:pPr>
            <a:r>
              <a:rPr lang="en-US" sz="1800" b="1" i="0" u="none" strike="noStrike" cap="none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CMK pays off when…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1005840" y="4206240"/>
            <a:ext cx="46634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52000"/>
              </a:lnSpc>
              <a:spcBef>
                <a:spcPts val="0"/>
              </a:spcBef>
              <a:spcAft>
                <a:spcPts val="0"/>
              </a:spcAft>
              <a:buClr>
                <a:srgbClr val="C9D6DB"/>
              </a:buClr>
              <a:buSzPts val="125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your organization </a:t>
            </a:r>
            <a:r>
              <a:rPr lang="en-US" sz="1600" dirty="0">
                <a:solidFill>
                  <a:srgbClr val="C9D6DB"/>
                </a:solidFill>
                <a:latin typeface="Calibri"/>
                <a:ea typeface="Calibri"/>
                <a:cs typeface="Calibri"/>
                <a:sym typeface="Calibri"/>
              </a:rPr>
              <a:t>has a clear scenario for using CMKs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6126480" y="178308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>
            <a:noFill/>
          </a:ln>
          <a:effectLst>
            <a:outerShdw blurRad="88900" dist="25400" dir="54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29" name="Google Shape;329;p14"/>
          <p:cNvSpPr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20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Three-question checklist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6400800" y="260604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1" name="Google Shape;331;p14"/>
          <p:cNvSpPr/>
          <p:nvPr/>
        </p:nvSpPr>
        <p:spPr>
          <a:xfrm>
            <a:off x="6400800" y="2606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7086600" y="258775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Do you have the regulatory requirement?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7086600" y="297180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A real mandate — not a nice-to-have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6400800" y="356616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5" name="Google Shape;335;p14"/>
          <p:cNvSpPr/>
          <p:nvPr/>
        </p:nvSpPr>
        <p:spPr>
          <a:xfrm>
            <a:off x="640080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7086600" y="354787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Do you have an F-SKU capacity?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7086600" y="393192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Paid, dedicated — no trial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6400800" y="4526280"/>
            <a:ext cx="502920" cy="502920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39" name="Google Shape;339;p14"/>
          <p:cNvSpPr/>
          <p:nvPr/>
        </p:nvSpPr>
        <p:spPr>
          <a:xfrm>
            <a:off x="6400800" y="4526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7086600" y="4507992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350"/>
              <a:buFont typeface="Calibri"/>
              <a:buNone/>
            </a:pPr>
            <a:r>
              <a:rPr lang="en-US" sz="1600" b="1" i="0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Do you have a team to run Key Vault?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7086600" y="489204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1100"/>
              <a:buFont typeface="Calibri"/>
              <a:buNone/>
            </a:pPr>
            <a:r>
              <a:rPr lang="en-US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Availability, rotation, revocation discipline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6400800" y="55321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lang="en-US" sz="1600" b="0" i="1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No clear </a:t>
            </a:r>
            <a:r>
              <a:rPr lang="en-US" sz="1600" b="1" i="1" u="none" strike="noStrike" cap="non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“yes”</a:t>
            </a:r>
            <a:r>
              <a:rPr lang="en-US" sz="1600" b="0" i="1" u="none" strike="noStrike" cap="none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 to all three?  You probably don't need CMK.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3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5"/>
          <p:cNvSpPr/>
          <p:nvPr/>
        </p:nvSpPr>
        <p:spPr>
          <a:xfrm>
            <a:off x="8869680" y="0"/>
            <a:ext cx="3291840" cy="6858000"/>
          </a:xfrm>
          <a:prstGeom prst="rect">
            <a:avLst/>
          </a:prstGeom>
          <a:solidFill>
            <a:srgbClr val="1632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51" name="Google Shape;351;p15"/>
          <p:cNvSpPr/>
          <p:nvPr/>
        </p:nvSpPr>
        <p:spPr>
          <a:xfrm>
            <a:off x="9829800" y="2606040"/>
            <a:ext cx="1463040" cy="1463040"/>
          </a:xfrm>
          <a:prstGeom prst="ellipse">
            <a:avLst/>
          </a:prstGeom>
          <a:solidFill>
            <a:srgbClr val="0E7C7B"/>
          </a:solidFill>
          <a:ln>
            <a:noFill/>
          </a:ln>
          <a:effectLst>
            <a:outerShdw blurRad="63500" dist="25400" dir="54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pic>
        <p:nvPicPr>
          <p:cNvPr id="352" name="Google Shape;352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4821" y="3001061"/>
            <a:ext cx="672998" cy="67299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5"/>
          <p:cNvSpPr/>
          <p:nvPr/>
        </p:nvSpPr>
        <p:spPr>
          <a:xfrm>
            <a:off x="9509760" y="2286000"/>
            <a:ext cx="2103120" cy="2103120"/>
          </a:xfrm>
          <a:prstGeom prst="ellipse">
            <a:avLst/>
          </a:prstGeom>
          <a:solidFill>
            <a:srgbClr val="0E7C7B">
              <a:alpha val="18039"/>
            </a:srgbClr>
          </a:solidFill>
          <a:ln w="12700" cap="flat" cmpd="sng">
            <a:solidFill>
              <a:srgbClr val="3AA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354" name="Google Shape;354;p15"/>
          <p:cNvSpPr/>
          <p:nvPr/>
        </p:nvSpPr>
        <p:spPr>
          <a:xfrm>
            <a:off x="822960" y="12801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200"/>
              <a:buFont typeface="Calibri"/>
              <a:buNone/>
            </a:pPr>
            <a:r>
              <a:rPr lang="en-US" b="1" i="0" u="none" strike="noStrike" cap="none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IN ONE LINE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777240" y="164592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&amp; Doesn't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822960" y="26974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7FE3D3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7FE3D3"/>
                </a:solidFill>
                <a:latin typeface="Calibri"/>
                <a:ea typeface="Calibri"/>
                <a:cs typeface="Calibri"/>
                <a:sym typeface="Calibri"/>
              </a:rPr>
              <a:t>DOES:  </a:t>
            </a:r>
            <a:r>
              <a:rPr lang="en-US" sz="1800" b="0" i="0" u="none" strike="noStrike" cap="none">
                <a:solidFill>
                  <a:srgbClr val="DDE7E6"/>
                </a:solidFill>
                <a:latin typeface="Calibri"/>
                <a:ea typeface="Calibri"/>
                <a:cs typeface="Calibri"/>
                <a:sym typeface="Calibri"/>
              </a:rPr>
              <a:t>give you ownership, rotation, auditability and a revocation kill switch for Fabric workspace data.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822960" y="36118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A33E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E0A33E"/>
                </a:solidFill>
                <a:latin typeface="Calibri"/>
                <a:ea typeface="Calibri"/>
                <a:cs typeface="Calibri"/>
                <a:sym typeface="Calibri"/>
              </a:rPr>
              <a:t>DOESN'T:  </a:t>
            </a:r>
            <a:r>
              <a:rPr lang="en-US" sz="1800" b="0" i="0" u="none" strike="noStrike" cap="none">
                <a:solidFill>
                  <a:srgbClr val="DDE7E6"/>
                </a:solidFill>
                <a:latin typeface="Calibri"/>
                <a:ea typeface="Calibri"/>
                <a:cs typeface="Calibri"/>
                <a:sym typeface="Calibri"/>
              </a:rPr>
              <a:t>cover semantic models, protect every byte, remove Microsoft from the chain, or run on a trial.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" name="Google Shape;358;p15"/>
          <p:cNvCxnSpPr/>
          <p:nvPr/>
        </p:nvCxnSpPr>
        <p:spPr>
          <a:xfrm>
            <a:off x="841248" y="4663440"/>
            <a:ext cx="7498080" cy="0"/>
          </a:xfrm>
          <a:prstGeom prst="straightConnector1">
            <a:avLst/>
          </a:prstGeom>
          <a:noFill/>
          <a:ln w="12700" cap="flat" cmpd="sng">
            <a:solidFill>
              <a:srgbClr val="31525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9" name="Google Shape;359;p15"/>
          <p:cNvSpPr/>
          <p:nvPr/>
        </p:nvSpPr>
        <p:spPr>
          <a:xfrm>
            <a:off x="822960" y="489204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822960" y="55321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AFA9"/>
              </a:buClr>
              <a:buSzPts val="1200"/>
              <a:buFont typeface="Calibri"/>
              <a:buNone/>
            </a:pPr>
            <a:r>
              <a:rPr lang="en-US" b="0" i="0" u="none" strike="noStrike" cap="none">
                <a:solidFill>
                  <a:srgbClr val="3AAFA9"/>
                </a:solidFill>
                <a:latin typeface="Calibri"/>
                <a:ea typeface="Calibri"/>
                <a:cs typeface="Calibri"/>
                <a:sym typeface="Calibri"/>
              </a:rPr>
              <a:t>Docs: learn.microsoft.com/fabric/security/workspace-customer-managed-keys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822960" y="6060440"/>
            <a:ext cx="9418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A33E"/>
              </a:buClr>
              <a:buSzPts val="1200"/>
              <a:buFont typeface="Calibri"/>
              <a:buNone/>
            </a:pPr>
            <a:r>
              <a:rPr lang="en-US" b="0" i="1" u="none" strike="noStrike" cap="none" dirty="0">
                <a:solidFill>
                  <a:srgbClr val="E0A33E"/>
                </a:solidFill>
                <a:latin typeface="Calibri"/>
                <a:ea typeface="Calibri"/>
                <a:cs typeface="Calibri"/>
                <a:sym typeface="Calibri"/>
              </a:rPr>
              <a:t>Back to Brussels: you now know exactly what CMK promises about control and where that promise runs out.</a:t>
            </a:r>
            <a:endParaRPr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7C7B"/>
              </a:buClr>
              <a:buSzPts val="1200"/>
              <a:buFont typeface="Calibri"/>
              <a:buNone/>
            </a:pPr>
            <a:r>
              <a:rPr lang="en-US" sz="1200" b="1" dirty="0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40080" y="56692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3200"/>
              <a:buFont typeface="Cambria"/>
              <a:buNone/>
            </a:pPr>
            <a:r>
              <a:rPr lang="en-US" sz="3200" b="1" dirty="0">
                <a:solidFill>
                  <a:srgbClr val="1B2A33"/>
                </a:solidFill>
                <a:latin typeface="Cambria"/>
                <a:ea typeface="Calibri"/>
                <a:cs typeface="Calibri"/>
                <a:sym typeface="Cambria"/>
              </a:rPr>
              <a:t>Two quick things before you go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40080" y="1783080"/>
            <a:ext cx="5257800" cy="4507992"/>
          </a:xfrm>
          <a:prstGeom prst="roundRect">
            <a:avLst>
              <a:gd name="adj" fmla="val 4706"/>
            </a:avLst>
          </a:prstGeom>
          <a:solidFill>
            <a:srgbClr val="EA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2" name="Google Shape;322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2057400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Customer-Managed Keys in Microsoft Fabric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B7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321;p14">
            <a:extLst>
              <a:ext uri="{FF2B5EF4-FFF2-40B4-BE49-F238E27FC236}">
                <a16:creationId xmlns:a16="http://schemas.microsoft.com/office/drawing/2014/main" id="{5F94107D-E898-EB1D-9A37-8290A2E251CA}"/>
              </a:ext>
            </a:extLst>
          </p:cNvPr>
          <p:cNvSpPr/>
          <p:nvPr/>
        </p:nvSpPr>
        <p:spPr>
          <a:xfrm>
            <a:off x="6294122" y="1783080"/>
            <a:ext cx="5257800" cy="4507992"/>
          </a:xfrm>
          <a:prstGeom prst="roundRect">
            <a:avLst>
              <a:gd name="adj" fmla="val 4706"/>
            </a:avLst>
          </a:prstGeom>
          <a:solidFill>
            <a:srgbClr val="EAF2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6FF85-7DFC-BBD1-7BE8-E3EDFAC56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8980" y="2850000"/>
            <a:ext cx="2700000" cy="2700000"/>
          </a:xfrm>
          <a:prstGeom prst="rect">
            <a:avLst/>
          </a:prstGeom>
          <a:ln w="9525">
            <a:solidFill>
              <a:srgbClr val="D7E0DF"/>
            </a:solidFill>
          </a:ln>
        </p:spPr>
      </p:pic>
      <p:sp>
        <p:nvSpPr>
          <p:cNvPr id="4" name="Google Shape;323;p14">
            <a:extLst>
              <a:ext uri="{FF2B5EF4-FFF2-40B4-BE49-F238E27FC236}">
                <a16:creationId xmlns:a16="http://schemas.microsoft.com/office/drawing/2014/main" id="{C9A05A36-F75A-C3BE-C02C-20B3CBAB0D8F}"/>
              </a:ext>
            </a:extLst>
          </p:cNvPr>
          <p:cNvSpPr/>
          <p:nvPr/>
        </p:nvSpPr>
        <p:spPr>
          <a:xfrm>
            <a:off x="1645920" y="202996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B2A33"/>
                </a:solidFill>
                <a:latin typeface="Calibri"/>
                <a:ea typeface="Calibri"/>
                <a:cs typeface="Calibri"/>
                <a:sym typeface="Calibri"/>
              </a:rPr>
              <a:t>Give me feedback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322;p14" descr="preencoded.png">
            <a:extLst>
              <a:ext uri="{FF2B5EF4-FFF2-40B4-BE49-F238E27FC236}">
                <a16:creationId xmlns:a16="http://schemas.microsoft.com/office/drawing/2014/main" id="{C256F810-DD6B-7890-1130-1D58396D49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0" y="2084832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23;p14">
            <a:extLst>
              <a:ext uri="{FF2B5EF4-FFF2-40B4-BE49-F238E27FC236}">
                <a16:creationId xmlns:a16="http://schemas.microsoft.com/office/drawing/2014/main" id="{FD412239-B883-E762-6553-37C8F53396C1}"/>
              </a:ext>
            </a:extLst>
          </p:cNvPr>
          <p:cNvSpPr/>
          <p:nvPr/>
        </p:nvSpPr>
        <p:spPr>
          <a:xfrm>
            <a:off x="7315200" y="205740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600"/>
              <a:buFont typeface="Calibri"/>
              <a:buNone/>
            </a:pPr>
            <a:r>
              <a:rPr lang="nl-NL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</a:t>
            </a:r>
            <a:r>
              <a:rPr lang="nl-N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NL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nl-N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nl-NL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material</a:t>
            </a:r>
            <a:r>
              <a:rPr lang="nl-N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lang="nl-NL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r>
              <a:rPr lang="nl-NL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nl-NL" sz="1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QR Placeholder"/>
          <p:cNvSpPr/>
          <p:nvPr/>
        </p:nvSpPr>
        <p:spPr>
          <a:xfrm>
            <a:off x="7573022" y="2850000"/>
            <a:ext cx="2700000" cy="2700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B9C4C3"/>
            </a:solidFill>
            <a:prstDash val="dash"/>
          </a:ln>
        </p:spPr>
        <p:txBody>
          <a:bodyPr wrap="square" lIns="45720" tIns="45720" rIns="45720" bIns="45720" anchor="ctr" anchorCtr="1">
            <a:noAutofit/>
          </a:bodyPr>
          <a:lstStyle/>
          <a:p>
            <a:pPr algn="ctr"/>
            <a:r>
              <a:rPr lang="en-US" sz="1150" b="0" i="1" dirty="0">
                <a:solidFill>
                  <a:srgbClr val="9AA6A5"/>
                </a:solidFill>
                <a:latin typeface="Calibri"/>
                <a:ea typeface="Calibri"/>
                <a:cs typeface="Calibri"/>
                <a:sym typeface="Calibri"/>
              </a:rPr>
              <a:t> QR code here</a:t>
            </a:r>
          </a:p>
        </p:txBody>
      </p:sp>
      <p:sp>
        <p:nvSpPr>
          <p:cNvPr id="701" name="FeedbackCaption"/>
          <p:cNvSpPr txBox="1"/>
          <p:nvPr/>
        </p:nvSpPr>
        <p:spPr>
          <a:xfrm>
            <a:off x="914400" y="5670000"/>
            <a:ext cx="470916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1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Scan to tell me what worked (and what didn't).</a:t>
            </a:r>
          </a:p>
        </p:txBody>
      </p:sp>
      <p:sp>
        <p:nvSpPr>
          <p:cNvPr id="702" name="GithubCaption"/>
          <p:cNvSpPr txBox="1"/>
          <p:nvPr/>
        </p:nvSpPr>
        <p:spPr>
          <a:xfrm>
            <a:off x="6568442" y="5670000"/>
            <a:ext cx="470916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100" b="0" i="1">
                <a:solidFill>
                  <a:srgbClr val="5B6B72"/>
                </a:solidFill>
                <a:latin typeface="Calibri"/>
                <a:ea typeface="Calibri"/>
                <a:cs typeface="Calibri"/>
                <a:sym typeface="Calibri"/>
              </a:rPr>
              <a:t>Scan for the demo notebook, setup guide, and scripts.</a:t>
            </a:r>
          </a:p>
        </p:txBody>
      </p:sp>
    </p:spTree>
    <p:extLst>
      <p:ext uri="{BB962C8B-B14F-4D97-AF65-F5344CB8AC3E}">
        <p14:creationId xmlns:p14="http://schemas.microsoft.com/office/powerpoint/2010/main" val="452368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2150</Words>
  <Application>Microsoft Macintosh PowerPoint</Application>
  <PresentationFormat>Widescreen</PresentationFormat>
  <Paragraphs>276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Karianne Kies</cp:lastModifiedBy>
  <cp:revision>15</cp:revision>
  <dcterms:modified xsi:type="dcterms:W3CDTF">2026-07-10T17:45:31Z</dcterms:modified>
</cp:coreProperties>
</file>